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3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1.gif" ContentType="image/gif"/>
  <Override PartName="/ppt/media/image5.png" ContentType="image/png"/>
  <Override PartName="/ppt/media/image14.png" ContentType="image/png"/>
  <Override PartName="/ppt/media/image2.jpeg" ContentType="image/jpe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media/image4.png" ContentType="image/png"/>
  <Override PartName="/ppt/media/image13.png" ContentType="image/png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cs-CZ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cs-CZ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cs-CZ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A109021-EA21-4EB9-95BA-C722866286C5}" type="slidenum"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FDBC08-0D28-4546-807A-474265CB4105}" type="slidenum">
              <a:rPr b="0" lang="cs-CZ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Jenom nadp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cs-CZ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Kliknutím lze upravit styl.</a:t>
            </a:r>
            <a:endParaRPr b="0" lang="cs-CZ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7E2A2F-3C79-4BCC-A154-C834B7B40A9F}" type="slidenum"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ázdn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FBFC52-A4D6-42B4-9D31-FE08AE4D99EC}" type="slidenum"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sah s titulke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cs-CZ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Kliknutím lze upravit styl.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 kliknutí můžete upravovat styly textu v předloze.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Druhá úroveň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Třetí úroveň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Čtvrtá úroveň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Pátá úroveň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cs-CZ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 kliknutí můžete upravovat styly textu v předloze.</a:t>
            </a:r>
            <a:endParaRPr b="0" lang="cs-CZ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77071B-C1F7-4666-886D-8F64E1586C5B}" type="slidenum"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rázek s titulke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cs-CZ" sz="32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Kliknutím lze upravit styl.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cs-CZ" sz="1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 kliknutí můžete upravovat styly textu v předloze.</a:t>
            </a:r>
            <a:endParaRPr b="0" lang="cs-CZ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4B0456-5356-482C-83C6-D0EB47361090}" type="slidenum"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Úvodní sníme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cs-CZ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Kliknutím lze upravit styl.</a:t>
            </a:r>
            <a:endParaRPr b="0" lang="cs-CZ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6C36A8-1C6A-4AF8-90D7-8CE7BB745BD4}" type="slidenum"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cs-CZ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Kliknutím lze upravit styl.</a:t>
            </a:r>
            <a:endParaRPr b="0" lang="cs-CZ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A3603B-2513-4EFF-AB4C-A84C2EF04EDC}" type="slidenum"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Nadpis a svislý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cs-CZ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Kliknutím lze upravit styl.</a:t>
            </a:r>
            <a:endParaRPr b="0" lang="cs-CZ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 kliknutí můžete upravovat styly textu v předloze.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Druhá úroveň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Třetí úroveň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Čtvrtá úroveň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Pátá úroveň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3433CA-7709-4714-8078-7EF5AE1320B7}" type="slidenum"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Svislý nadpis a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cs-CZ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Kliknutím lze upravit styl.</a:t>
            </a:r>
            <a:endParaRPr b="0" lang="cs-CZ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 kliknutí můžete upravovat styly textu v předloze.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Druhá úroveň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Třetí úroveň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Čtvrtá úroveň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Pátá úroveň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7981DB-FAB1-4560-AE9C-05DB41F051F8}" type="slidenum"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Nadpis a obsa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cs-CZ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Kliknutím lze upravit styl.</a:t>
            </a:r>
            <a:endParaRPr b="0" lang="cs-CZ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 kliknutí můžete upravovat styly textu v předloze.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Druhá úroveň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Třetí úroveň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Čtvrtá úroveň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Pátá úroveň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766B42-9DC4-4D56-9C0B-4FADFC3C16A6}" type="slidenum"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áhlaví oddíl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cs-CZ" sz="6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Kliknutím lze upravit styl.</a:t>
            </a:r>
            <a:endParaRPr b="0" lang="cs-CZ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cs-CZ" sz="24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Po kliknutí můžete upravovat styly textu v předloze.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1870C2-09ED-4F84-ACC8-0BDC1DB2B39E}" type="slidenum"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va obsah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cs-CZ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Kliknutím lze upravit styl.</a:t>
            </a:r>
            <a:endParaRPr b="0" lang="cs-CZ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 kliknutí můžete upravovat styly textu v předloze.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Druhá úroveň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Třetí úroveň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Čtvrtá úroveň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Pátá úroveň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 kliknutí můžete upravovat styly textu v předloze.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Druhá úroveň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Třetí úroveň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Čtvrtá úroveň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Pátá úroveň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A3CAAB-F4F0-4C03-B3E1-C63F686315CC}" type="slidenum"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orovnání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cs-CZ" sz="4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Kliknutím lze upravit styl.</a:t>
            </a:r>
            <a:endParaRPr b="0" lang="cs-CZ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 kliknutí můžete upravovat styly textu v předloze.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 kliknutí můžete upravovat styly textu v předloze.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Druhá úroveň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Třetí úroveň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Čtvrtá úroveň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Pátá úroveň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 kliknutí můžete upravovat styly textu v předloze.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 kliknutí můžete upravovat styly textu v předloze.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Druhá úroveň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Třetí úroveň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Čtvrtá úroveň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Pátá úroveň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7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8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B51864-CF29-4E79-8B46-4FE0B701190B}" type="slidenum">
              <a:rPr b="0" lang="cs-CZ" sz="12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cs-CZ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gif"/><Relationship Id="rId6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gif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gif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gif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Obrázek 6" descr=""/>
          <p:cNvPicPr/>
          <p:nvPr/>
        </p:nvPicPr>
        <p:blipFill>
          <a:blip r:embed="rId1"/>
          <a:stretch/>
        </p:blipFill>
        <p:spPr>
          <a:xfrm>
            <a:off x="522360" y="2094840"/>
            <a:ext cx="11146320" cy="184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22360" y="2435040"/>
            <a:ext cx="11146320" cy="13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0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br>
              <a:rPr sz="4000"/>
            </a:b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2" descr="Detail fakulty | GAUDEAMUS"/>
          <p:cNvPicPr/>
          <p:nvPr/>
        </p:nvPicPr>
        <p:blipFill>
          <a:blip r:embed="rId2"/>
          <a:stretch/>
        </p:blipFill>
        <p:spPr>
          <a:xfrm>
            <a:off x="414720" y="437760"/>
            <a:ext cx="6992280" cy="110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Nadpis 1"/>
          <p:cNvSpPr/>
          <p:nvPr/>
        </p:nvSpPr>
        <p:spPr>
          <a:xfrm>
            <a:off x="522360" y="3287880"/>
            <a:ext cx="111463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en-GB" sz="2800" strike="noStrike" u="none">
                <a:solidFill>
                  <a:srgbClr val="cc0000"/>
                </a:solidFill>
                <a:effectLst/>
                <a:uFillTx/>
                <a:latin typeface="Aptos Display"/>
              </a:rPr>
              <a:t>PROJEKT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Nadpis 1"/>
          <p:cNvSpPr/>
          <p:nvPr/>
        </p:nvSpPr>
        <p:spPr>
          <a:xfrm>
            <a:off x="2743200" y="4404240"/>
            <a:ext cx="7140240" cy="92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defTabSz="914400">
              <a:lnSpc>
                <a:spcPct val="90000"/>
              </a:lnSpc>
            </a:pPr>
            <a:endParaRPr b="0" lang="cs-CZ" sz="2800" strike="noStrike" u="non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4" name="Nadpis 1"/>
          <p:cNvSpPr/>
          <p:nvPr/>
        </p:nvSpPr>
        <p:spPr>
          <a:xfrm>
            <a:off x="-36000" y="5690160"/>
            <a:ext cx="122083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endParaRPr b="0" lang="cs-CZ" sz="2800" strike="noStrike" u="non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Obrázek 6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66760" y="-25920"/>
            <a:ext cx="4768560" cy="9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cs-CZ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CÍLE A POŽADAVKY</a:t>
            </a: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1280160" y="1131120"/>
            <a:ext cx="9295560" cy="52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cs-CZ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Naprogramovat a zprovoznit fotopast pro monitorování pohybu lesní zvěře na hranici lesní a obydlené oblasti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Pomocí tlačítka simulovat detekci pohybu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Při detekci uložit záznam o pořízení fotografie na sd kartu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Posílání obrázku předuloženého na sd kartě s informacemi o obrázku na server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Systém pro kontrolu rádiových podmínek a případné odložení posílání obrázku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Periodické posílání telemetrie na server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Vhodné napájení a vhodná implementace režimu úspory energie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Obrázek 13" descr=""/>
          <p:cNvPicPr/>
          <p:nvPr/>
        </p:nvPicPr>
        <p:blipFill>
          <a:blip r:embed="rId2"/>
          <a:stretch/>
        </p:blipFill>
        <p:spPr>
          <a:xfrm>
            <a:off x="0" y="6557400"/>
            <a:ext cx="10876680" cy="2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Obrázek 15" descr=""/>
          <p:cNvPicPr/>
          <p:nvPr/>
        </p:nvPicPr>
        <p:blipFill>
          <a:blip r:embed="rId3"/>
          <a:stretch/>
        </p:blipFill>
        <p:spPr>
          <a:xfrm>
            <a:off x="10567080" y="6557400"/>
            <a:ext cx="162432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Nadpis 1"/>
          <p:cNvSpPr/>
          <p:nvPr/>
        </p:nvSpPr>
        <p:spPr>
          <a:xfrm>
            <a:off x="10593720" y="6405120"/>
            <a:ext cx="1624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fld id="{C0A24A84-3248-4B95-8774-7A4F155C2397}" type="slidenum"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&lt;number&gt;</a:t>
            </a:fld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/</a:t>
            </a: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x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Nadpis 1"/>
          <p:cNvSpPr/>
          <p:nvPr/>
        </p:nvSpPr>
        <p:spPr>
          <a:xfrm>
            <a:off x="0" y="6361560"/>
            <a:ext cx="10549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cs-CZ" sz="18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Obrázek 20" descr="Obsah obrázku logo, symbol, Písmo, Grafika&#10;&#10;Popis byl vytvořen automaticky"/>
          <p:cNvPicPr/>
          <p:nvPr/>
        </p:nvPicPr>
        <p:blipFill>
          <a:blip r:embed="rId4"/>
          <a:stretch/>
        </p:blipFill>
        <p:spPr>
          <a:xfrm>
            <a:off x="10593720" y="311400"/>
            <a:ext cx="1330920" cy="409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Obrázek 6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66760" y="-25920"/>
            <a:ext cx="7989840" cy="9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cs-CZ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NÁVRH TECHNICKÉHO ŘEŠENÍ</a:t>
            </a: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1280160" y="1131120"/>
            <a:ext cx="9295560" cy="52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ESP32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Hlavní řidící jednotka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BG77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Rádiová část pro komunikaci, SD karta, tlačítko, SIM karta pro připojení do sítě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Server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Příjem telemetrie a obrázků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Přenosová technologie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LTE Cat-M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Transportní protocol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UDP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cs-CZ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Aplikační protokol</a:t>
            </a: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	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HEX - přenos obrázků, JSON – telemetrie, informace k obrázkům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Obrázek 13" descr=""/>
          <p:cNvPicPr/>
          <p:nvPr/>
        </p:nvPicPr>
        <p:blipFill>
          <a:blip r:embed="rId2"/>
          <a:stretch/>
        </p:blipFill>
        <p:spPr>
          <a:xfrm>
            <a:off x="0" y="6557400"/>
            <a:ext cx="10876680" cy="2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Obrázek 15" descr=""/>
          <p:cNvPicPr/>
          <p:nvPr/>
        </p:nvPicPr>
        <p:blipFill>
          <a:blip r:embed="rId3"/>
          <a:stretch/>
        </p:blipFill>
        <p:spPr>
          <a:xfrm>
            <a:off x="10567080" y="6557400"/>
            <a:ext cx="162432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Nadpis 1"/>
          <p:cNvSpPr/>
          <p:nvPr/>
        </p:nvSpPr>
        <p:spPr>
          <a:xfrm>
            <a:off x="10593720" y="6405120"/>
            <a:ext cx="1624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fld id="{D8E05A44-BD54-47DE-A3B3-E919608FA4D2}" type="slidenum"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&lt;number&gt;</a:t>
            </a:fld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/</a:t>
            </a: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x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Nadpis 1"/>
          <p:cNvSpPr/>
          <p:nvPr/>
        </p:nvSpPr>
        <p:spPr>
          <a:xfrm>
            <a:off x="0" y="6361560"/>
            <a:ext cx="10549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cs-CZ" sz="18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Obrázek 20" descr="Obsah obrázku logo, symbol, Písmo, Grafika&#10;&#10;Popis byl vytvořen automaticky"/>
          <p:cNvPicPr/>
          <p:nvPr/>
        </p:nvPicPr>
        <p:blipFill>
          <a:blip r:embed="rId4"/>
          <a:stretch/>
        </p:blipFill>
        <p:spPr>
          <a:xfrm>
            <a:off x="10593720" y="311400"/>
            <a:ext cx="1330920" cy="409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Obrázek 6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66760" y="-25920"/>
            <a:ext cx="9160200" cy="9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2500" lnSpcReduction="9999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PŘENOSOVÁ TECHNOLOGIE (LTE Cat-M)</a:t>
            </a: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1280160" y="1131120"/>
            <a:ext cx="9295560" cy="52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Licenční technologie (nemá duty cycle)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Vhodné do odlehlejších oblastí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Podpora úsporných režimů (PSM, eDRX)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Dobrá přenosová rychlost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Nízká odezva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Obrázek 13" descr=""/>
          <p:cNvPicPr/>
          <p:nvPr/>
        </p:nvPicPr>
        <p:blipFill>
          <a:blip r:embed="rId2"/>
          <a:stretch/>
        </p:blipFill>
        <p:spPr>
          <a:xfrm>
            <a:off x="0" y="6557400"/>
            <a:ext cx="10876680" cy="2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Obrázek 15" descr=""/>
          <p:cNvPicPr/>
          <p:nvPr/>
        </p:nvPicPr>
        <p:blipFill>
          <a:blip r:embed="rId3"/>
          <a:stretch/>
        </p:blipFill>
        <p:spPr>
          <a:xfrm>
            <a:off x="10567080" y="6557400"/>
            <a:ext cx="162432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Nadpis 1"/>
          <p:cNvSpPr/>
          <p:nvPr/>
        </p:nvSpPr>
        <p:spPr>
          <a:xfrm>
            <a:off x="10593720" y="6405120"/>
            <a:ext cx="1624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fld id="{23DA15EC-D710-438A-85D8-B1103187B1C6}" type="slidenum"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&lt;number&gt;</a:t>
            </a:fld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/</a:t>
            </a: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x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Nadpis 1"/>
          <p:cNvSpPr/>
          <p:nvPr/>
        </p:nvSpPr>
        <p:spPr>
          <a:xfrm>
            <a:off x="0" y="6361560"/>
            <a:ext cx="10549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cs-CZ" sz="18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Obrázek 20" descr="Obsah obrázku logo, symbol, Písmo, Grafika&#10;&#10;Popis byl vytvořen automaticky"/>
          <p:cNvPicPr/>
          <p:nvPr/>
        </p:nvPicPr>
        <p:blipFill>
          <a:blip r:embed="rId4"/>
          <a:stretch/>
        </p:blipFill>
        <p:spPr>
          <a:xfrm>
            <a:off x="10593720" y="311400"/>
            <a:ext cx="1330920" cy="409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Obrázek 6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266760" y="-25920"/>
            <a:ext cx="8071920" cy="9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cs-CZ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Transportní protokol</a:t>
            </a:r>
            <a:r>
              <a:rPr b="0" lang="en-GB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 (UDP)</a:t>
            </a: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subTitle"/>
          </p:nvPr>
        </p:nvSpPr>
        <p:spPr>
          <a:xfrm>
            <a:off x="1280160" y="1131120"/>
            <a:ext cx="9295560" cy="52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Jednoduchá implementace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Nízká režie a overhead (oproti TCP)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Možnost vlastního potvrzování přes server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Dobrá přenosová rychlost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Vhodné pro přenášení obrázků po částech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Obrázek 13" descr=""/>
          <p:cNvPicPr/>
          <p:nvPr/>
        </p:nvPicPr>
        <p:blipFill>
          <a:blip r:embed="rId2"/>
          <a:stretch/>
        </p:blipFill>
        <p:spPr>
          <a:xfrm>
            <a:off x="0" y="6557400"/>
            <a:ext cx="10876680" cy="2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Obrázek 15" descr=""/>
          <p:cNvPicPr/>
          <p:nvPr/>
        </p:nvPicPr>
        <p:blipFill>
          <a:blip r:embed="rId3"/>
          <a:stretch/>
        </p:blipFill>
        <p:spPr>
          <a:xfrm>
            <a:off x="10567080" y="6557400"/>
            <a:ext cx="162432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Nadpis 1"/>
          <p:cNvSpPr/>
          <p:nvPr/>
        </p:nvSpPr>
        <p:spPr>
          <a:xfrm>
            <a:off x="10593720" y="6405120"/>
            <a:ext cx="1624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fld id="{B25C1DBB-A936-487D-83C1-A1FA77383DD6}" type="slidenum"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&lt;number&gt;</a:t>
            </a:fld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/</a:t>
            </a: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x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Nadpis 1"/>
          <p:cNvSpPr/>
          <p:nvPr/>
        </p:nvSpPr>
        <p:spPr>
          <a:xfrm>
            <a:off x="0" y="6361560"/>
            <a:ext cx="10549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cs-CZ" sz="18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Obrázek 20" descr="Obsah obrázku logo, symbol, Písmo, Grafika&#10;&#10;Popis byl vytvořen automaticky"/>
          <p:cNvPicPr/>
          <p:nvPr/>
        </p:nvPicPr>
        <p:blipFill>
          <a:blip r:embed="rId4"/>
          <a:stretch/>
        </p:blipFill>
        <p:spPr>
          <a:xfrm>
            <a:off x="10593720" y="311400"/>
            <a:ext cx="1330920" cy="409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Obrázek 6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266760" y="-25920"/>
            <a:ext cx="8071920" cy="9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cs-CZ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Aplikační protokol</a:t>
            </a:r>
            <a:r>
              <a:rPr b="0" lang="en-GB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 (JSON, HEX)</a:t>
            </a: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1280160" y="1131120"/>
            <a:ext cx="9295560" cy="52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JSON</a:t>
            </a:r>
            <a:endParaRPr b="0" lang="cs-CZ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Jednoduché vytváření a zpracování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Přehlednost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Snadná rozšířitelnost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6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HEX</a:t>
            </a:r>
            <a:endParaRPr b="0" lang="cs-CZ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Použit pro přenos obrázků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Obrázek 13" descr=""/>
          <p:cNvPicPr/>
          <p:nvPr/>
        </p:nvPicPr>
        <p:blipFill>
          <a:blip r:embed="rId2"/>
          <a:stretch/>
        </p:blipFill>
        <p:spPr>
          <a:xfrm>
            <a:off x="0" y="6557400"/>
            <a:ext cx="10876680" cy="2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Obrázek 15" descr=""/>
          <p:cNvPicPr/>
          <p:nvPr/>
        </p:nvPicPr>
        <p:blipFill>
          <a:blip r:embed="rId3"/>
          <a:stretch/>
        </p:blipFill>
        <p:spPr>
          <a:xfrm>
            <a:off x="10567080" y="6557400"/>
            <a:ext cx="162432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Nadpis 1"/>
          <p:cNvSpPr/>
          <p:nvPr/>
        </p:nvSpPr>
        <p:spPr>
          <a:xfrm>
            <a:off x="10593720" y="6405120"/>
            <a:ext cx="1624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fld id="{6E993926-D96F-429D-AC5D-B8E12F882D94}" type="slidenum"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&lt;number&gt;</a:t>
            </a:fld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/</a:t>
            </a: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x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Nadpis 1"/>
          <p:cNvSpPr/>
          <p:nvPr/>
        </p:nvSpPr>
        <p:spPr>
          <a:xfrm>
            <a:off x="0" y="6361560"/>
            <a:ext cx="10549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cs-CZ" sz="18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Obrázek 20" descr="Obsah obrázku logo, symbol, Písmo, Grafika&#10;&#10;Popis byl vytvořen automaticky"/>
          <p:cNvPicPr/>
          <p:nvPr/>
        </p:nvPicPr>
        <p:blipFill>
          <a:blip r:embed="rId4"/>
          <a:stretch/>
        </p:blipFill>
        <p:spPr>
          <a:xfrm>
            <a:off x="10593720" y="311400"/>
            <a:ext cx="1330920" cy="409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Obrázek 6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266760" y="-25920"/>
            <a:ext cx="8071920" cy="9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STRUKTURA KÓDU</a:t>
            </a: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1280160" y="1131120"/>
            <a:ext cx="9295560" cy="52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BG77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Inicializace a řízení rádiové komunikace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File_manager + sdcard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Práce se soubory a SD kartou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Server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Příjem telemetrie, obrázků a posílání potvrzení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Uart_if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Inicializace uart komunikace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Main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00280" indent="-343080" defTabSz="914400">
              <a:lnSpc>
                <a:spcPct val="90000"/>
              </a:lnSpc>
              <a:spcBef>
                <a:spcPts val="499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Definice pinů, inicializace zařízení a main loop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Obrázek 13" descr=""/>
          <p:cNvPicPr/>
          <p:nvPr/>
        </p:nvPicPr>
        <p:blipFill>
          <a:blip r:embed="rId2"/>
          <a:stretch/>
        </p:blipFill>
        <p:spPr>
          <a:xfrm>
            <a:off x="0" y="6557400"/>
            <a:ext cx="10876680" cy="2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Obrázek 15" descr=""/>
          <p:cNvPicPr/>
          <p:nvPr/>
        </p:nvPicPr>
        <p:blipFill>
          <a:blip r:embed="rId3"/>
          <a:stretch/>
        </p:blipFill>
        <p:spPr>
          <a:xfrm>
            <a:off x="10567080" y="6557400"/>
            <a:ext cx="162432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Nadpis 1"/>
          <p:cNvSpPr/>
          <p:nvPr/>
        </p:nvSpPr>
        <p:spPr>
          <a:xfrm>
            <a:off x="10593720" y="6405120"/>
            <a:ext cx="1624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fld id="{202FCB03-3EAC-4804-B97F-067D47D67C65}" type="slidenum"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&lt;number&gt;</a:t>
            </a:fld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/</a:t>
            </a: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x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Nadpis 1"/>
          <p:cNvSpPr/>
          <p:nvPr/>
        </p:nvSpPr>
        <p:spPr>
          <a:xfrm>
            <a:off x="0" y="6361560"/>
            <a:ext cx="10549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cs-CZ" sz="18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Obrázek 20" descr="Obsah obrázku logo, symbol, Písmo, Grafika&#10;&#10;Popis byl vytvořen automaticky"/>
          <p:cNvPicPr/>
          <p:nvPr/>
        </p:nvPicPr>
        <p:blipFill>
          <a:blip r:embed="rId4"/>
          <a:stretch/>
        </p:blipFill>
        <p:spPr>
          <a:xfrm>
            <a:off x="10593720" y="311400"/>
            <a:ext cx="1330920" cy="409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Obrázek 6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266760" y="-25920"/>
            <a:ext cx="8071920" cy="9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SERVER</a:t>
            </a: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ubTitle"/>
          </p:nvPr>
        </p:nvSpPr>
        <p:spPr>
          <a:xfrm>
            <a:off x="1280160" y="1131120"/>
            <a:ext cx="9295560" cy="52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Běží na adrese 147.229.148.105 a portu 7001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Zajišťuje příjem JSON zpráv, ze kterých vyčte typ zprávy a podle typu se následně nastaví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Příjem telemetrie je ve formátu JSON (RSRP, SINR)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Příjem informace o obrázku je ve formátu JSON (type, image_info, id, size, encoding)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Příjem částí obrázku ve formátu HEX potvrzuje zprávou “OK”. Počet částí počítá z maximální velikosti celého obrázku.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Obrázek 13" descr=""/>
          <p:cNvPicPr/>
          <p:nvPr/>
        </p:nvPicPr>
        <p:blipFill>
          <a:blip r:embed="rId2"/>
          <a:stretch/>
        </p:blipFill>
        <p:spPr>
          <a:xfrm>
            <a:off x="0" y="6557400"/>
            <a:ext cx="10876680" cy="2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Obrázek 15" descr=""/>
          <p:cNvPicPr/>
          <p:nvPr/>
        </p:nvPicPr>
        <p:blipFill>
          <a:blip r:embed="rId3"/>
          <a:stretch/>
        </p:blipFill>
        <p:spPr>
          <a:xfrm>
            <a:off x="10567080" y="6557400"/>
            <a:ext cx="162432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Nadpis 1"/>
          <p:cNvSpPr/>
          <p:nvPr/>
        </p:nvSpPr>
        <p:spPr>
          <a:xfrm>
            <a:off x="10593720" y="6405120"/>
            <a:ext cx="1624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fld id="{E6185A94-1BD2-4F41-B17D-1B11FC364B07}" type="slidenum"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&lt;number&gt;</a:t>
            </a:fld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/</a:t>
            </a: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x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Nadpis 1"/>
          <p:cNvSpPr/>
          <p:nvPr/>
        </p:nvSpPr>
        <p:spPr>
          <a:xfrm>
            <a:off x="0" y="6361560"/>
            <a:ext cx="10549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cs-CZ" sz="18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Obrázek 20" descr="Obsah obrázku logo, symbol, Písmo, Grafika&#10;&#10;Popis byl vytvořen automaticky"/>
          <p:cNvPicPr/>
          <p:nvPr/>
        </p:nvPicPr>
        <p:blipFill>
          <a:blip r:embed="rId4"/>
          <a:stretch/>
        </p:blipFill>
        <p:spPr>
          <a:xfrm>
            <a:off x="10593720" y="311400"/>
            <a:ext cx="1330920" cy="409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Obrázek 6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266760" y="-25920"/>
            <a:ext cx="8071920" cy="9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SERVER UKÁZKA (lokální)</a:t>
            </a: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ubTitle"/>
          </p:nvPr>
        </p:nvSpPr>
        <p:spPr>
          <a:xfrm>
            <a:off x="132120" y="934920"/>
            <a:ext cx="4169880" cy="151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Testovací klient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Obrázek 13" descr=""/>
          <p:cNvPicPr/>
          <p:nvPr/>
        </p:nvPicPr>
        <p:blipFill>
          <a:blip r:embed="rId2"/>
          <a:stretch/>
        </p:blipFill>
        <p:spPr>
          <a:xfrm>
            <a:off x="0" y="6557400"/>
            <a:ext cx="10876680" cy="2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Obrázek 15" descr=""/>
          <p:cNvPicPr/>
          <p:nvPr/>
        </p:nvPicPr>
        <p:blipFill>
          <a:blip r:embed="rId3"/>
          <a:stretch/>
        </p:blipFill>
        <p:spPr>
          <a:xfrm>
            <a:off x="10567080" y="6557400"/>
            <a:ext cx="162432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Nadpis 1"/>
          <p:cNvSpPr/>
          <p:nvPr/>
        </p:nvSpPr>
        <p:spPr>
          <a:xfrm>
            <a:off x="10593720" y="6405120"/>
            <a:ext cx="1624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fld id="{29C2E663-23F1-4606-A880-CFF9C6B5296C}" type="slidenum"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&lt;number&gt;</a:t>
            </a:fld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/</a:t>
            </a: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x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Nadpis 1"/>
          <p:cNvSpPr/>
          <p:nvPr/>
        </p:nvSpPr>
        <p:spPr>
          <a:xfrm>
            <a:off x="0" y="6361560"/>
            <a:ext cx="10549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cs-CZ" sz="18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Obrázek 20" descr="Obsah obrázku logo, symbol, Písmo, Grafika&#10;&#10;Popis byl vytvořen automaticky"/>
          <p:cNvPicPr/>
          <p:nvPr/>
        </p:nvPicPr>
        <p:blipFill>
          <a:blip r:embed="rId4"/>
          <a:stretch/>
        </p:blipFill>
        <p:spPr>
          <a:xfrm>
            <a:off x="10593720" y="311400"/>
            <a:ext cx="1330920" cy="40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Picture 4" descr=""/>
          <p:cNvPicPr/>
          <p:nvPr/>
        </p:nvPicPr>
        <p:blipFill>
          <a:blip r:embed="rId5"/>
          <a:stretch/>
        </p:blipFill>
        <p:spPr>
          <a:xfrm>
            <a:off x="266760" y="1428120"/>
            <a:ext cx="5592240" cy="415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Picture 7" descr=""/>
          <p:cNvPicPr/>
          <p:nvPr/>
        </p:nvPicPr>
        <p:blipFill>
          <a:blip r:embed="rId6"/>
          <a:stretch/>
        </p:blipFill>
        <p:spPr>
          <a:xfrm>
            <a:off x="6095880" y="1428120"/>
            <a:ext cx="5592240" cy="208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Podnadpis 2"/>
          <p:cNvSpPr/>
          <p:nvPr/>
        </p:nvSpPr>
        <p:spPr>
          <a:xfrm>
            <a:off x="6054120" y="932760"/>
            <a:ext cx="4169880" cy="15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cc0000"/>
              </a:buClr>
              <a:buSzPct val="105000"/>
              <a:buFont typeface="Arial"/>
              <a:buChar char="•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Server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Obrázek 6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266760" y="-25920"/>
            <a:ext cx="8071920" cy="9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Architektura systému</a:t>
            </a: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Obrázek 13" descr=""/>
          <p:cNvPicPr/>
          <p:nvPr/>
        </p:nvPicPr>
        <p:blipFill>
          <a:blip r:embed="rId2"/>
          <a:stretch/>
        </p:blipFill>
        <p:spPr>
          <a:xfrm>
            <a:off x="0" y="6557400"/>
            <a:ext cx="10876680" cy="2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Obrázek 15" descr=""/>
          <p:cNvPicPr/>
          <p:nvPr/>
        </p:nvPicPr>
        <p:blipFill>
          <a:blip r:embed="rId3"/>
          <a:stretch/>
        </p:blipFill>
        <p:spPr>
          <a:xfrm>
            <a:off x="10567080" y="6557400"/>
            <a:ext cx="162432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Nadpis 1"/>
          <p:cNvSpPr/>
          <p:nvPr/>
        </p:nvSpPr>
        <p:spPr>
          <a:xfrm>
            <a:off x="10593720" y="6405120"/>
            <a:ext cx="1624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fld id="{75E4FFEF-9DF4-4EF8-93A9-3402275DC994}" type="slidenum"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&lt;number&gt;</a:t>
            </a:fld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/2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Nadpis 1"/>
          <p:cNvSpPr/>
          <p:nvPr/>
        </p:nvSpPr>
        <p:spPr>
          <a:xfrm>
            <a:off x="0" y="6361560"/>
            <a:ext cx="10549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cs-CZ" sz="18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Obrázek 20" descr="Obsah obrázku logo, symbol, Písmo, Grafika&#10;&#10;Popis byl vytvořen automaticky"/>
          <p:cNvPicPr/>
          <p:nvPr/>
        </p:nvPicPr>
        <p:blipFill>
          <a:blip r:embed="rId4"/>
          <a:stretch/>
        </p:blipFill>
        <p:spPr>
          <a:xfrm>
            <a:off x="10593720" y="311400"/>
            <a:ext cx="1330920" cy="40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" descr=""/>
          <p:cNvPicPr/>
          <p:nvPr/>
        </p:nvPicPr>
        <p:blipFill>
          <a:blip r:embed="rId5"/>
          <a:stretch/>
        </p:blipFill>
        <p:spPr>
          <a:xfrm>
            <a:off x="963720" y="934560"/>
            <a:ext cx="10008720" cy="5513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Obrázek 6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266760" y="-25920"/>
            <a:ext cx="8071920" cy="9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Sleep</a:t>
            </a: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ubTitle"/>
          </p:nvPr>
        </p:nvSpPr>
        <p:spPr>
          <a:xfrm>
            <a:off x="1280160" y="1131120"/>
            <a:ext cx="9295560" cy="52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 defTabSz="914400">
              <a:lnSpc>
                <a:spcPct val="90000"/>
              </a:lnSpc>
              <a:spcBef>
                <a:spcPts val="1851"/>
              </a:spcBef>
              <a:spcAft>
                <a:spcPts val="850"/>
              </a:spcAft>
              <a:buClr>
                <a:srgbClr val="ff4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Uspán MCU i BG77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851"/>
              </a:spcBef>
              <a:spcAft>
                <a:spcPts val="850"/>
              </a:spcAft>
              <a:buClr>
                <a:srgbClr val="ff4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Využití PSM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851"/>
              </a:spcBef>
              <a:spcAft>
                <a:spcPts val="850"/>
              </a:spcAft>
              <a:buClr>
                <a:srgbClr val="ff4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Probuzení RTC nebo interruptem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851"/>
              </a:spcBef>
              <a:spcAft>
                <a:spcPts val="850"/>
              </a:spcAft>
              <a:buClr>
                <a:srgbClr val="ff4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Perioda RTC dána sítí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Obrázek 13" descr=""/>
          <p:cNvPicPr/>
          <p:nvPr/>
        </p:nvPicPr>
        <p:blipFill>
          <a:blip r:embed="rId2"/>
          <a:stretch/>
        </p:blipFill>
        <p:spPr>
          <a:xfrm>
            <a:off x="0" y="6557400"/>
            <a:ext cx="10876680" cy="2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Obrázek 15" descr=""/>
          <p:cNvPicPr/>
          <p:nvPr/>
        </p:nvPicPr>
        <p:blipFill>
          <a:blip r:embed="rId3"/>
          <a:stretch/>
        </p:blipFill>
        <p:spPr>
          <a:xfrm>
            <a:off x="10567080" y="6557400"/>
            <a:ext cx="162432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Nadpis 1"/>
          <p:cNvSpPr/>
          <p:nvPr/>
        </p:nvSpPr>
        <p:spPr>
          <a:xfrm>
            <a:off x="10593720" y="6405120"/>
            <a:ext cx="1624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fld id="{82AD909E-F18E-4A7E-91B6-8946799B0134}" type="slidenum"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&lt;number&gt;</a:t>
            </a:fld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/2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Nadpis 1"/>
          <p:cNvSpPr/>
          <p:nvPr/>
        </p:nvSpPr>
        <p:spPr>
          <a:xfrm>
            <a:off x="0" y="6361560"/>
            <a:ext cx="10549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cs-CZ" sz="18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Obrázek 20" descr="Obsah obrázku logo, symbol, Písmo, Grafika&#10;&#10;Popis byl vytvořen automaticky"/>
          <p:cNvPicPr/>
          <p:nvPr/>
        </p:nvPicPr>
        <p:blipFill>
          <a:blip r:embed="rId4"/>
          <a:stretch/>
        </p:blipFill>
        <p:spPr>
          <a:xfrm>
            <a:off x="10593720" y="311400"/>
            <a:ext cx="1330920" cy="409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Obrázek 6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266760" y="-25920"/>
            <a:ext cx="8071920" cy="9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Send telemetry</a:t>
            </a: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ubTitle"/>
          </p:nvPr>
        </p:nvSpPr>
        <p:spPr>
          <a:xfrm>
            <a:off x="1280160" y="1131120"/>
            <a:ext cx="9295560" cy="52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 defTabSz="914400">
              <a:lnSpc>
                <a:spcPct val="90000"/>
              </a:lnSpc>
              <a:spcBef>
                <a:spcPts val="1568"/>
              </a:spcBef>
              <a:spcAft>
                <a:spcPts val="567"/>
              </a:spcAft>
              <a:buClr>
                <a:srgbClr val="ff4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Odesílá informace ve formátu JSON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568"/>
              </a:spcBef>
              <a:spcAft>
                <a:spcPts val="567"/>
              </a:spcAft>
              <a:buClr>
                <a:srgbClr val="ff4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Rádiové podmínky, stav baterie, teplota...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Obrázek 13" descr=""/>
          <p:cNvPicPr/>
          <p:nvPr/>
        </p:nvPicPr>
        <p:blipFill>
          <a:blip r:embed="rId2"/>
          <a:stretch/>
        </p:blipFill>
        <p:spPr>
          <a:xfrm>
            <a:off x="0" y="6557400"/>
            <a:ext cx="10876680" cy="2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Obrázek 15" descr=""/>
          <p:cNvPicPr/>
          <p:nvPr/>
        </p:nvPicPr>
        <p:blipFill>
          <a:blip r:embed="rId3"/>
          <a:stretch/>
        </p:blipFill>
        <p:spPr>
          <a:xfrm>
            <a:off x="10567080" y="6557400"/>
            <a:ext cx="162432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Nadpis 1"/>
          <p:cNvSpPr/>
          <p:nvPr/>
        </p:nvSpPr>
        <p:spPr>
          <a:xfrm>
            <a:off x="10593720" y="6405120"/>
            <a:ext cx="1624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fld id="{8EDEBE7F-2E83-41AD-9DC4-ED59EB0DC771}" type="slidenum"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&lt;number&gt;</a:t>
            </a:fld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/2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Nadpis 1"/>
          <p:cNvSpPr/>
          <p:nvPr/>
        </p:nvSpPr>
        <p:spPr>
          <a:xfrm>
            <a:off x="0" y="6361560"/>
            <a:ext cx="10549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cs-CZ" sz="18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Obrázek 20" descr="Obsah obrázku logo, symbol, Písmo, Grafika&#10;&#10;Popis byl vytvořen automaticky"/>
          <p:cNvPicPr/>
          <p:nvPr/>
        </p:nvPicPr>
        <p:blipFill>
          <a:blip r:embed="rId4"/>
          <a:stretch/>
        </p:blipFill>
        <p:spPr>
          <a:xfrm>
            <a:off x="10593720" y="311400"/>
            <a:ext cx="1330920" cy="409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Obrázek 1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266760" y="-25920"/>
            <a:ext cx="8071920" cy="9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Save image</a:t>
            </a: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subTitle"/>
          </p:nvPr>
        </p:nvSpPr>
        <p:spPr>
          <a:xfrm>
            <a:off x="1280160" y="1131120"/>
            <a:ext cx="9295560" cy="52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 defTabSz="914400">
              <a:lnSpc>
                <a:spcPct val="90000"/>
              </a:lnSpc>
              <a:spcBef>
                <a:spcPts val="1568"/>
              </a:spcBef>
              <a:spcAft>
                <a:spcPts val="567"/>
              </a:spcAft>
              <a:buClr>
                <a:srgbClr val="ff4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Uloží záznam o obrázku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568"/>
              </a:spcBef>
              <a:spcAft>
                <a:spcPts val="567"/>
              </a:spcAft>
              <a:buClr>
                <a:srgbClr val="ff4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Záznam obsahuje název souboru a čas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568"/>
              </a:spcBef>
              <a:spcAft>
                <a:spcPts val="567"/>
              </a:spcAft>
              <a:buClr>
                <a:srgbClr val="ff4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Záznamy ukládá do zásobníku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Obrázek 2" descr=""/>
          <p:cNvPicPr/>
          <p:nvPr/>
        </p:nvPicPr>
        <p:blipFill>
          <a:blip r:embed="rId2"/>
          <a:stretch/>
        </p:blipFill>
        <p:spPr>
          <a:xfrm>
            <a:off x="0" y="6557400"/>
            <a:ext cx="10876680" cy="2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Obrázek 3" descr=""/>
          <p:cNvPicPr/>
          <p:nvPr/>
        </p:nvPicPr>
        <p:blipFill>
          <a:blip r:embed="rId3"/>
          <a:stretch/>
        </p:blipFill>
        <p:spPr>
          <a:xfrm>
            <a:off x="10567080" y="6557400"/>
            <a:ext cx="162432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Nadpis 3"/>
          <p:cNvSpPr/>
          <p:nvPr/>
        </p:nvSpPr>
        <p:spPr>
          <a:xfrm>
            <a:off x="10593720" y="6405120"/>
            <a:ext cx="1624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fld id="{A938397B-0D51-4DE5-8A4B-90E3F4EB0B62}" type="slidenum"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&lt;number&gt;</a:t>
            </a:fld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/2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Nadpis 4"/>
          <p:cNvSpPr/>
          <p:nvPr/>
        </p:nvSpPr>
        <p:spPr>
          <a:xfrm>
            <a:off x="0" y="6361560"/>
            <a:ext cx="10549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cs-CZ" sz="18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Obrázek 4" descr="Obsah obrázku logo, symbol, Písmo, Grafika&#10;&#10;Popis byl vytvořen automaticky"/>
          <p:cNvPicPr/>
          <p:nvPr/>
        </p:nvPicPr>
        <p:blipFill>
          <a:blip r:embed="rId4"/>
          <a:stretch/>
        </p:blipFill>
        <p:spPr>
          <a:xfrm>
            <a:off x="10593720" y="311400"/>
            <a:ext cx="1330920" cy="40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" descr=""/>
          <p:cNvPicPr/>
          <p:nvPr/>
        </p:nvPicPr>
        <p:blipFill>
          <a:blip r:embed="rId5"/>
          <a:stretch/>
        </p:blipFill>
        <p:spPr>
          <a:xfrm>
            <a:off x="5842080" y="2514600"/>
            <a:ext cx="5587560" cy="3574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Obrázek 5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266760" y="-25920"/>
            <a:ext cx="8071920" cy="9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Send all images</a:t>
            </a: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ubTitle"/>
          </p:nvPr>
        </p:nvSpPr>
        <p:spPr>
          <a:xfrm>
            <a:off x="1280160" y="1131120"/>
            <a:ext cx="9295560" cy="523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 defTabSz="914400">
              <a:lnSpc>
                <a:spcPct val="90000"/>
              </a:lnSpc>
              <a:spcBef>
                <a:spcPts val="1568"/>
              </a:spcBef>
              <a:spcAft>
                <a:spcPts val="567"/>
              </a:spcAft>
              <a:buClr>
                <a:srgbClr val="ff4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Obrázky jsou odeslány pouze za vhodných podmínek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568"/>
              </a:spcBef>
              <a:spcAft>
                <a:spcPts val="567"/>
              </a:spcAft>
              <a:buClr>
                <a:srgbClr val="ff4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Přečte všechny nové záznamy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90000"/>
              </a:lnSpc>
              <a:spcBef>
                <a:spcPts val="1568"/>
              </a:spcBef>
              <a:spcAft>
                <a:spcPts val="567"/>
              </a:spcAft>
              <a:buClr>
                <a:srgbClr val="ff4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Přepíše ukazatel na konec 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defTabSz="914400">
              <a:lnSpc>
                <a:spcPct val="90000"/>
              </a:lnSpc>
              <a:spcBef>
                <a:spcPts val="1568"/>
              </a:spcBef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zásobníku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Obrázek 7" descr=""/>
          <p:cNvPicPr/>
          <p:nvPr/>
        </p:nvPicPr>
        <p:blipFill>
          <a:blip r:embed="rId2"/>
          <a:stretch/>
        </p:blipFill>
        <p:spPr>
          <a:xfrm>
            <a:off x="0" y="6557400"/>
            <a:ext cx="10876680" cy="2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Obrázek 8" descr=""/>
          <p:cNvPicPr/>
          <p:nvPr/>
        </p:nvPicPr>
        <p:blipFill>
          <a:blip r:embed="rId3"/>
          <a:stretch/>
        </p:blipFill>
        <p:spPr>
          <a:xfrm>
            <a:off x="10567080" y="6557400"/>
            <a:ext cx="162432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Nadpis 6"/>
          <p:cNvSpPr/>
          <p:nvPr/>
        </p:nvSpPr>
        <p:spPr>
          <a:xfrm>
            <a:off x="10593720" y="6405120"/>
            <a:ext cx="1624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fld id="{355CCDC6-1FE6-48ED-B504-B0D45DA93A8D}" type="slidenum"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&lt;number&gt;</a:t>
            </a:fld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/2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Nadpis 7"/>
          <p:cNvSpPr/>
          <p:nvPr/>
        </p:nvSpPr>
        <p:spPr>
          <a:xfrm>
            <a:off x="0" y="6361560"/>
            <a:ext cx="10549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cs-CZ" sz="18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Obrázek 9" descr="Obsah obrázku logo, symbol, Písmo, Grafika&#10;&#10;Popis byl vytvořen automaticky"/>
          <p:cNvPicPr/>
          <p:nvPr/>
        </p:nvPicPr>
        <p:blipFill>
          <a:blip r:embed="rId4"/>
          <a:stretch/>
        </p:blipFill>
        <p:spPr>
          <a:xfrm>
            <a:off x="10593720" y="311400"/>
            <a:ext cx="1330920" cy="40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" descr=""/>
          <p:cNvPicPr/>
          <p:nvPr/>
        </p:nvPicPr>
        <p:blipFill>
          <a:blip r:embed="rId5"/>
          <a:stretch/>
        </p:blipFill>
        <p:spPr>
          <a:xfrm>
            <a:off x="6629400" y="2954880"/>
            <a:ext cx="5028840" cy="321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Obrázek 10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266760" y="-25920"/>
            <a:ext cx="8071920" cy="9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Proč využívat PSM</a:t>
            </a: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Obrázek 11" descr=""/>
          <p:cNvPicPr/>
          <p:nvPr/>
        </p:nvPicPr>
        <p:blipFill>
          <a:blip r:embed="rId2"/>
          <a:stretch/>
        </p:blipFill>
        <p:spPr>
          <a:xfrm>
            <a:off x="0" y="6557400"/>
            <a:ext cx="10876680" cy="2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Obrázek 12" descr=""/>
          <p:cNvPicPr/>
          <p:nvPr/>
        </p:nvPicPr>
        <p:blipFill>
          <a:blip r:embed="rId3"/>
          <a:stretch/>
        </p:blipFill>
        <p:spPr>
          <a:xfrm>
            <a:off x="10567080" y="6557400"/>
            <a:ext cx="162432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Nadpis 2"/>
          <p:cNvSpPr/>
          <p:nvPr/>
        </p:nvSpPr>
        <p:spPr>
          <a:xfrm>
            <a:off x="10593720" y="6405120"/>
            <a:ext cx="1624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fld id="{964A0492-8321-4DE2-907E-D9F1EA21432F}" type="slidenum"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&lt;number&gt;</a:t>
            </a:fld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/2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Nadpis 5"/>
          <p:cNvSpPr/>
          <p:nvPr/>
        </p:nvSpPr>
        <p:spPr>
          <a:xfrm>
            <a:off x="0" y="6361560"/>
            <a:ext cx="10549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cs-CZ" sz="18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Obrázek 14" descr="Obsah obrázku logo, symbol, Písmo, Grafika&#10;&#10;Popis byl vytvořen automaticky"/>
          <p:cNvPicPr/>
          <p:nvPr/>
        </p:nvPicPr>
        <p:blipFill>
          <a:blip r:embed="rId4"/>
          <a:stretch/>
        </p:blipFill>
        <p:spPr>
          <a:xfrm>
            <a:off x="10593720" y="311400"/>
            <a:ext cx="1330920" cy="4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 Placeholder 3"/>
          <p:cNvSpPr txBox="1"/>
          <p:nvPr/>
        </p:nvSpPr>
        <p:spPr>
          <a:xfrm>
            <a:off x="457200" y="1234800"/>
            <a:ext cx="5231880" cy="1965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Problem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Equipment installed in remote areas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Battery-powered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Motion events are infrequent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Picture 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91200" y="3424320"/>
            <a:ext cx="9000" cy="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 Placeholder 1"/>
          <p:cNvSpPr/>
          <p:nvPr/>
        </p:nvSpPr>
        <p:spPr>
          <a:xfrm>
            <a:off x="6172200" y="1234800"/>
            <a:ext cx="477792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Solution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BG77 remains in PSM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RP2040 stays in Sleep mode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Only the PIR sensor stays active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Placeholder 2"/>
          <p:cNvSpPr/>
          <p:nvPr/>
        </p:nvSpPr>
        <p:spPr>
          <a:xfrm>
            <a:off x="457200" y="3429000"/>
            <a:ext cx="4239720" cy="20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Benefits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Increased autonomy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Reduced maintenance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Lower energy consumption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Obrázek 16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266760" y="-25920"/>
            <a:ext cx="8071920" cy="9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Optimalizace spotřeby</a:t>
            </a: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Obrázek 17" descr=""/>
          <p:cNvPicPr/>
          <p:nvPr/>
        </p:nvPicPr>
        <p:blipFill>
          <a:blip r:embed="rId2"/>
          <a:stretch/>
        </p:blipFill>
        <p:spPr>
          <a:xfrm>
            <a:off x="0" y="6557400"/>
            <a:ext cx="10876680" cy="2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Obrázek 18" descr=""/>
          <p:cNvPicPr/>
          <p:nvPr/>
        </p:nvPicPr>
        <p:blipFill>
          <a:blip r:embed="rId3"/>
          <a:stretch/>
        </p:blipFill>
        <p:spPr>
          <a:xfrm>
            <a:off x="10567080" y="6557400"/>
            <a:ext cx="162432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Nadpis 8"/>
          <p:cNvSpPr/>
          <p:nvPr/>
        </p:nvSpPr>
        <p:spPr>
          <a:xfrm>
            <a:off x="10593720" y="6405120"/>
            <a:ext cx="1624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fld id="{AA61018D-E835-4A6E-8574-5421062D822B}" type="slidenum"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&lt;number&gt;</a:t>
            </a:fld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/2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Nadpis 9"/>
          <p:cNvSpPr/>
          <p:nvPr/>
        </p:nvSpPr>
        <p:spPr>
          <a:xfrm>
            <a:off x="0" y="6361560"/>
            <a:ext cx="10549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cs-CZ" sz="18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Obrázek 19" descr="Obsah obrázku logo, symbol, Písmo, Grafika&#10;&#10;Popis byl vytvořen automaticky"/>
          <p:cNvPicPr/>
          <p:nvPr/>
        </p:nvPicPr>
        <p:blipFill>
          <a:blip r:embed="rId4"/>
          <a:stretch/>
        </p:blipFill>
        <p:spPr>
          <a:xfrm>
            <a:off x="10593720" y="311400"/>
            <a:ext cx="1330920" cy="40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Picture 3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91200" y="3424320"/>
            <a:ext cx="9000" cy="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3" name="Image 0" descr="preencoded.png"/>
          <p:cNvPicPr/>
          <p:nvPr/>
        </p:nvPicPr>
        <p:blipFill>
          <a:blip r:embed="rId6"/>
          <a:srcRect l="26444" t="2240" r="33873" b="10401"/>
          <a:stretch/>
        </p:blipFill>
        <p:spPr>
          <a:xfrm>
            <a:off x="8001000" y="1013400"/>
            <a:ext cx="3200400" cy="51634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04" name="Table 1"/>
          <p:cNvGraphicFramePr/>
          <p:nvPr/>
        </p:nvGraphicFramePr>
        <p:xfrm>
          <a:off x="302040" y="1302480"/>
          <a:ext cx="7013160" cy="2355120"/>
        </p:xfrm>
        <a:graphic>
          <a:graphicData uri="http://schemas.openxmlformats.org/drawingml/2006/table">
            <a:tbl>
              <a:tblPr/>
              <a:tblGrid>
                <a:gridCol w="1700280"/>
                <a:gridCol w="1700280"/>
                <a:gridCol w="1700280"/>
                <a:gridCol w="1912320"/>
              </a:tblGrid>
              <a:tr h="3600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Power State</a:t>
                      </a:r>
                      <a:endParaRPr b="0" lang="cs-CZ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Current Draw</a:t>
                      </a:r>
                      <a:endParaRPr b="0" lang="cs-CZ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Duration</a:t>
                      </a:r>
                      <a:endParaRPr b="0" lang="cs-CZ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US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Use Case</a:t>
                      </a:r>
                      <a:endParaRPr b="0" lang="cs-CZ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896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Deep Sleep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&lt;10uA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90% of time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Warning for events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93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Light  Sleep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100uA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5% of time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Pre-alarm state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896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Active TX/RX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50-200mA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&lt;1% of time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Data transmission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896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Processing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30-80mA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&lt;1% of time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5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Image processing</a:t>
                      </a:r>
                      <a:endParaRPr b="0" lang="cs-CZ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Obrázek 21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266760" y="-25920"/>
            <a:ext cx="8071920" cy="9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Optimalizace spotřeby</a:t>
            </a: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Obrázek 22" descr=""/>
          <p:cNvPicPr/>
          <p:nvPr/>
        </p:nvPicPr>
        <p:blipFill>
          <a:blip r:embed="rId2"/>
          <a:stretch/>
        </p:blipFill>
        <p:spPr>
          <a:xfrm>
            <a:off x="0" y="6557400"/>
            <a:ext cx="10876680" cy="2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Obrázek 23" descr=""/>
          <p:cNvPicPr/>
          <p:nvPr/>
        </p:nvPicPr>
        <p:blipFill>
          <a:blip r:embed="rId3"/>
          <a:stretch/>
        </p:blipFill>
        <p:spPr>
          <a:xfrm>
            <a:off x="10567080" y="6557400"/>
            <a:ext cx="162432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Nadpis 10"/>
          <p:cNvSpPr/>
          <p:nvPr/>
        </p:nvSpPr>
        <p:spPr>
          <a:xfrm>
            <a:off x="10593720" y="6405120"/>
            <a:ext cx="1624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fld id="{07086C63-4588-489C-A8E6-5CBD6AFA2B0E}" type="slidenum"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&lt;number&gt;</a:t>
            </a:fld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/2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Nadpis 11"/>
          <p:cNvSpPr/>
          <p:nvPr/>
        </p:nvSpPr>
        <p:spPr>
          <a:xfrm>
            <a:off x="0" y="6361560"/>
            <a:ext cx="10549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cs-CZ" sz="18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Obrázek 24" descr="Obsah obrázku logo, symbol, Písmo, Grafika&#10;&#10;Popis byl vytvořen automaticky"/>
          <p:cNvPicPr/>
          <p:nvPr/>
        </p:nvPicPr>
        <p:blipFill>
          <a:blip r:embed="rId4"/>
          <a:stretch/>
        </p:blipFill>
        <p:spPr>
          <a:xfrm>
            <a:off x="10593720" y="311400"/>
            <a:ext cx="1330920" cy="40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Picture 5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91200" y="3424320"/>
            <a:ext cx="9000" cy="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Picture Placeholder 5" descr=""/>
          <p:cNvPicPr/>
          <p:nvPr/>
        </p:nvPicPr>
        <p:blipFill>
          <a:blip r:embed="rId6"/>
          <a:srcRect l="1113" t="0" r="1113" b="0"/>
          <a:stretch/>
        </p:blipFill>
        <p:spPr>
          <a:xfrm>
            <a:off x="0" y="36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Obrázek 25" descr=""/>
          <p:cNvPicPr/>
          <p:nvPr/>
        </p:nvPicPr>
        <p:blipFill>
          <a:blip r:embed="rId1"/>
          <a:stretch/>
        </p:blipFill>
        <p:spPr>
          <a:xfrm>
            <a:off x="0" y="0"/>
            <a:ext cx="12191400" cy="9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266760" y="-25920"/>
            <a:ext cx="8071920" cy="93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Implementace</a:t>
            </a:r>
            <a:endParaRPr b="0" lang="cs-CZ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6" name="Obrázek 26" descr=""/>
          <p:cNvPicPr/>
          <p:nvPr/>
        </p:nvPicPr>
        <p:blipFill>
          <a:blip r:embed="rId2"/>
          <a:stretch/>
        </p:blipFill>
        <p:spPr>
          <a:xfrm>
            <a:off x="0" y="6557400"/>
            <a:ext cx="10876680" cy="29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Obrázek 27" descr=""/>
          <p:cNvPicPr/>
          <p:nvPr/>
        </p:nvPicPr>
        <p:blipFill>
          <a:blip r:embed="rId3"/>
          <a:stretch/>
        </p:blipFill>
        <p:spPr>
          <a:xfrm>
            <a:off x="10567080" y="6557400"/>
            <a:ext cx="1624320" cy="2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Nadpis 12"/>
          <p:cNvSpPr/>
          <p:nvPr/>
        </p:nvSpPr>
        <p:spPr>
          <a:xfrm>
            <a:off x="10593720" y="6405120"/>
            <a:ext cx="162432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90000"/>
              </a:lnSpc>
            </a:pPr>
            <a:fld id="{4513C95D-D031-424A-80B4-47A70DDD71BA}" type="slidenum"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&lt;number&gt;</a:t>
            </a:fld>
            <a:r>
              <a:rPr b="0" lang="cs-CZ" sz="18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/2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Nadpis 13"/>
          <p:cNvSpPr/>
          <p:nvPr/>
        </p:nvSpPr>
        <p:spPr>
          <a:xfrm>
            <a:off x="0" y="6361560"/>
            <a:ext cx="105494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b="0" lang="cs-CZ" sz="1800" strike="noStrike" u="none">
                <a:solidFill>
                  <a:srgbClr val="ff0000"/>
                </a:solidFill>
                <a:effectLst/>
                <a:uFillTx/>
                <a:latin typeface="Aptos Display"/>
              </a:rPr>
              <a:t>Fotopast – Detekce Pohybu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0" name="Obrázek 28" descr="Obsah obrázku logo, symbol, Písmo, Grafika&#10;&#10;Popis byl vytvořen automaticky"/>
          <p:cNvPicPr/>
          <p:nvPr/>
        </p:nvPicPr>
        <p:blipFill>
          <a:blip r:embed="rId4"/>
          <a:stretch/>
        </p:blipFill>
        <p:spPr>
          <a:xfrm>
            <a:off x="10593720" y="311400"/>
            <a:ext cx="1330920" cy="40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Picture 6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91200" y="3424320"/>
            <a:ext cx="9000" cy="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Picture 8" descr=""/>
          <p:cNvPicPr/>
          <p:nvPr/>
        </p:nvPicPr>
        <p:blipFill>
          <a:blip r:embed="rId6"/>
          <a:stretch/>
        </p:blipFill>
        <p:spPr>
          <a:xfrm>
            <a:off x="8862120" y="1185840"/>
            <a:ext cx="2814480" cy="408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Picture 9" descr=""/>
          <p:cNvPicPr/>
          <p:nvPr/>
        </p:nvPicPr>
        <p:blipFill>
          <a:blip r:embed="rId7"/>
          <a:stretch/>
        </p:blipFill>
        <p:spPr>
          <a:xfrm>
            <a:off x="4831560" y="1839240"/>
            <a:ext cx="3757680" cy="2780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Picture 11" descr=""/>
          <p:cNvPicPr/>
          <p:nvPr/>
        </p:nvPicPr>
        <p:blipFill>
          <a:blip r:embed="rId8"/>
          <a:stretch/>
        </p:blipFill>
        <p:spPr>
          <a:xfrm>
            <a:off x="497880" y="2654280"/>
            <a:ext cx="4108680" cy="1468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otiv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1c5532a-b778-4e29-a072-cb536ab0160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8033859EDFEA34D97C3CEF122C3483D" ma:contentTypeVersion="14" ma:contentTypeDescription="Vytvoří nový dokument" ma:contentTypeScope="" ma:versionID="5126ae07ee97dafc15cb90026761fa92">
  <xsd:schema xmlns:xsd="http://www.w3.org/2001/XMLSchema" xmlns:xs="http://www.w3.org/2001/XMLSchema" xmlns:p="http://schemas.microsoft.com/office/2006/metadata/properties" xmlns:ns3="61c5532a-b778-4e29-a072-cb536ab01606" xmlns:ns4="e9ea7685-df10-4188-99d8-1d63f51b8051" targetNamespace="http://schemas.microsoft.com/office/2006/metadata/properties" ma:root="true" ma:fieldsID="59a4dfa2f1be6ca5e6655207ac3be805" ns3:_="" ns4:_="">
    <xsd:import namespace="61c5532a-b778-4e29-a072-cb536ab01606"/>
    <xsd:import namespace="e9ea7685-df10-4188-99d8-1d63f51b805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c5532a-b778-4e29-a072-cb536ab016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ea7685-df10-4188-99d8-1d63f51b805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5D8907-400A-4F60-9FCF-569F6430110D}">
  <ds:schemaRefs>
    <ds:schemaRef ds:uri="http://schemas.microsoft.com/office/2006/documentManagement/types"/>
    <ds:schemaRef ds:uri="http://purl.org/dc/dcmitype/"/>
    <ds:schemaRef ds:uri="61c5532a-b778-4e29-a072-cb536ab01606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e9ea7685-df10-4188-99d8-1d63f51b805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4E269C6-378C-4A08-8BF0-8351DEE5D8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87E607-CF65-4A3B-A085-696D9E55C46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61c5532a-b778-4e29-a072-cb536ab01606"/>
    <ds:schemaRef ds:uri="e9ea7685-df10-4188-99d8-1d63f51b805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1680</TotalTime>
  <Application>LibreOffice/25.2.5.2$Linux_X86_64 LibreOffice_project/520$Build-2</Application>
  <AppVersion>15.0000</AppVersion>
  <Words>405</Words>
  <Paragraphs>88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2025-01-07T17:29:46Z</dcterms:created>
  <dc:creator>Jozíf Jakub (247016)</dc:creator>
  <dc:description/>
  <dc:language>en-US</dc:language>
  <cp:lastModifiedBy/>
  <dcterms:modified xsi:type="dcterms:W3CDTF">2026-05-28T10:23:32Z</dcterms:modified>
  <cp:revision>11</cp:revision>
  <dc:subject/>
  <dc:title>Návrh pájecího zařízení pro pájení přetavením s přestupem tepla kondukcí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0x01010068033859EDFEA34D97C3CEF122C3483D</vt:lpwstr>
  </property>
  <property fmtid="{D5CDD505-2E9C-101B-9397-08002B2CF9AE}" pid="3" name="Notes">
    <vt:i4>1</vt:i4>
  </property>
  <property fmtid="{D5CDD505-2E9C-101B-9397-08002B2CF9AE}" pid="4" name="PresentationFormat">
    <vt:lpwstr>Widescreen</vt:lpwstr>
  </property>
  <property fmtid="{D5CDD505-2E9C-101B-9397-08002B2CF9AE}" pid="5" name="Slides">
    <vt:i4>12</vt:i4>
  </property>
</Properties>
</file>