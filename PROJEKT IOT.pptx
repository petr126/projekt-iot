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cs-CZ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cs-CZ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A109021-EA21-4EB9-95BA-C722866286C5}" type="slidenum"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cs-CZ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FDBC08-0D28-4546-807A-474265CB4105}" type="slidenum">
              <a:rPr lang="cs-CZ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7E2A2F-3C79-4BCC-A154-C834B7B40A9F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FBFC52-A4D6-42B4-9D31-FE08AE4D99EC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sah s titulke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cs-CZ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77071B-C1F7-4666-886D-8F64E1586C5B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rázek s titulke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cs-CZ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4B0456-5356-482C-83C6-D0EB47361090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Úvodní sníme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6C36A8-1C6A-4AF8-90D7-8CE7BB745BD4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7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A3603B-2513-4EFF-AB4C-A84C2EF04EDC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3433CA-7709-4714-8078-7EF5AE1320B7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7981DB-FAB1-4560-AE9C-05DB41F051F8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766B42-9DC4-4D56-9C0B-4FADFC3C16A6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áhlaví oddíl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cs-CZ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1870C2-09ED-4F84-ACC8-0BDC1DB2B39E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A3CAAB-F4F0-4C03-B3E1-C63F686315CC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rovnání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Kliknutím lze upravit styl.</a:t>
            </a:r>
            <a:endParaRPr lang="cs-CZ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cs-CZ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cs-CZ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 kliknutí můžete upravovat styly textu v předloze.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Druhá úroveň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Třetí úroveň</a:t>
            </a:r>
            <a:endParaRPr lang="cs-CZ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Čtvrtá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Pátá úroveň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7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s-CZ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2" name="PlaceHolder 8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B51864-CF29-4E79-8B46-4FE0B701190B}" type="slidenum">
              <a:rPr lang="cs-CZ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cs-CZ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gif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gif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gif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gif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Obrázek 6"/>
          <p:cNvPicPr/>
          <p:nvPr/>
        </p:nvPicPr>
        <p:blipFill>
          <a:blip r:embed="rId3"/>
          <a:stretch/>
        </p:blipFill>
        <p:spPr>
          <a:xfrm>
            <a:off x="522360" y="2094840"/>
            <a:ext cx="11146320" cy="184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22360" y="2435040"/>
            <a:ext cx="11146320" cy="13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br>
              <a:rPr sz="4000"/>
            </a:b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2" descr="Detail fakulty | GAUDEAMUS"/>
          <p:cNvPicPr/>
          <p:nvPr/>
        </p:nvPicPr>
        <p:blipFill>
          <a:blip r:embed="rId4"/>
          <a:stretch/>
        </p:blipFill>
        <p:spPr>
          <a:xfrm>
            <a:off x="414720" y="437760"/>
            <a:ext cx="6992280" cy="110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Nadpis 1"/>
          <p:cNvSpPr/>
          <p:nvPr/>
        </p:nvSpPr>
        <p:spPr>
          <a:xfrm>
            <a:off x="522360" y="3287880"/>
            <a:ext cx="11146320" cy="50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en-GB" sz="2800" b="0" u="none" strike="noStrike">
                <a:solidFill>
                  <a:srgbClr val="CC0000"/>
                </a:solidFill>
                <a:effectLst/>
                <a:uFillTx/>
                <a:latin typeface="Aptos Display"/>
              </a:rPr>
              <a:t>PROJEKT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Nadpis 1"/>
          <p:cNvSpPr/>
          <p:nvPr/>
        </p:nvSpPr>
        <p:spPr>
          <a:xfrm>
            <a:off x="2743200" y="4404240"/>
            <a:ext cx="7140240" cy="92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defTabSz="914400">
              <a:lnSpc>
                <a:spcPct val="90000"/>
              </a:lnSpc>
            </a:pPr>
            <a:endParaRPr lang="cs-CZ" sz="28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Nadpis 1"/>
          <p:cNvSpPr/>
          <p:nvPr/>
        </p:nvSpPr>
        <p:spPr>
          <a:xfrm>
            <a:off x="-36000" y="5690160"/>
            <a:ext cx="12208320" cy="50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endParaRPr lang="cs-CZ" sz="28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476856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CÍLE A POŽADAVKY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Naprogramovat a zprovoznit fotopast pro monitorování pohybu lesní zvěře na hranici lesní a obydlené oblasti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Pomocí tlačítka simulovat detekci pohybu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Při detekci uložit záznam o pořízení fotografie na sd kartu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Posílání obrázku předuloženého na sd kartě s informacemi o obrázku na server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Systém pro kontrolu rádiových podmínek a případné odložení posílání obrázku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Periodické posílání telemetrie na server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Vhodné napájení a vhodná implementace režimu úspory energie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C0A24A84-3248-4B95-8774-7A4F155C2397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2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798984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NÁVRH TECHNICKÉHO ŘEŠENÍ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dirty="0">
                <a:solidFill>
                  <a:schemeClr val="dk1"/>
                </a:solidFill>
                <a:latin typeface="Aptos"/>
              </a:rPr>
              <a:t>Raspberry pi </a:t>
            </a:r>
            <a:r>
              <a:rPr lang="en-GB" sz="2400" dirty="0" err="1">
                <a:solidFill>
                  <a:schemeClr val="dk1"/>
                </a:solidFill>
                <a:latin typeface="Aptos"/>
              </a:rPr>
              <a:t>pico</a:t>
            </a: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Hlavní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řidící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jednotka</a:t>
            </a: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BG77</a:t>
            </a: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Rádiová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část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pro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komunikaci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, SD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karta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,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tlačítko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, SIM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karta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pro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připojení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do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sítě</a:t>
            </a: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Server</a:t>
            </a: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Příjem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telemetrie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a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obrázků</a:t>
            </a: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Přenosová technologie</a:t>
            </a: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LTE Cat-M</a:t>
            </a: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Transportní protocol</a:t>
            </a: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UDP</a:t>
            </a: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cs-CZ" sz="24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Aplikační protokol</a:t>
            </a:r>
            <a:r>
              <a:rPr lang="en-GB" sz="24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	</a:t>
            </a: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HEX -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přenos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obrázků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, JSON –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telemetrie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,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informace</a:t>
            </a:r>
            <a:r>
              <a:rPr lang="en-GB" sz="20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k </a:t>
            </a:r>
            <a:r>
              <a:rPr lang="en-GB" sz="2000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obrázkům</a:t>
            </a:r>
            <a:endParaRPr lang="cs-CZ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cs-CZ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D8E05A44-BD54-47DE-A3B3-E919608FA4D2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3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916020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PŘENOSOVÁ TECHNOLOGIE (LTE Cat-M)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Licenční technologie (nemá duty cycle)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Vhodné do odlehlejších oblastí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Podpora úsporných režimů (PSM, eDRX)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Dobrá přenosová rychlost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Nízká odezva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23DA15EC-D710-438A-85D8-B1103187B1C6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4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Transportní protokol</a:t>
            </a: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(UDP)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Jednoduchá implementace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Nízká režie a overhead (oproti TCP)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Možnost vlastního potvrzování přes server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Dobrá přenosová rychlost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Vhodné pro přenášení obrázků po částech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B25C1DBB-A936-487D-83C1-A1FA77383DD6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5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s-CZ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Aplikační protokol</a:t>
            </a: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(JSON, HEX)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JSON</a:t>
            </a:r>
            <a:endParaRPr lang="cs-CZ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Jednoduché vytváření a zpracování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Přehlednost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Snadná rozšířitelnost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HEX</a:t>
            </a:r>
            <a:endParaRPr lang="cs-CZ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Použit pro přenos obrázků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6E993926-D96F-429D-AC5D-B8E12F882D94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6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STRUKTURA KÓDU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BG77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Inicializace a řízení rádiové komunikace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File_manager + sdcard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Práce se soubory a SD kartou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Server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Příjem telemetrie, obrázků a posílání potvrzení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Uart_if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Inicializace uart komunikace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Main</a:t>
            </a:r>
            <a:endParaRPr lang="cs-CZ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Definice pinů, inicializace zařízení a main loop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202FCB03-3EAC-4804-B97F-067D47D67C65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7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SERVER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Běží na adrese 147.229.148.105 a portu 7001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Zajišťuje příjem JSON zpráv, ze kterých vyčte typ zprávy a podle typu se následně nastaví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Příjem telemetrie je ve formátu JSON (RSRP, SINR)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Příjem informace o obrázku je ve formátu JSON (type, image_info, id, size, encoding)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Příjem částí obrázku ve formátu HEX potvrzuje zprávou “OK”. Počet částí počítá z maximální velikosti celého obrázku.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E6185A94-1BD2-4F41-B17D-1B11FC364B07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8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SERVER UKÁZKA (lokální)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132120" y="934920"/>
            <a:ext cx="4169880" cy="151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Testovací klient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29C2E663-23F1-4606-A880-CFF9C6B5296C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9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</a:t>
            </a: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Picture 4"/>
          <p:cNvPicPr/>
          <p:nvPr/>
        </p:nvPicPr>
        <p:blipFill>
          <a:blip r:embed="rId6"/>
          <a:stretch/>
        </p:blipFill>
        <p:spPr>
          <a:xfrm>
            <a:off x="266760" y="1428120"/>
            <a:ext cx="5592240" cy="415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Picture 7"/>
          <p:cNvPicPr/>
          <p:nvPr/>
        </p:nvPicPr>
        <p:blipFill>
          <a:blip r:embed="rId7"/>
          <a:stretch/>
        </p:blipFill>
        <p:spPr>
          <a:xfrm>
            <a:off x="6095880" y="1428120"/>
            <a:ext cx="5592240" cy="20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Podnadpis 2"/>
          <p:cNvSpPr/>
          <p:nvPr/>
        </p:nvSpPr>
        <p:spPr>
          <a:xfrm>
            <a:off x="6054120" y="932760"/>
            <a:ext cx="4169880" cy="151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CC0000"/>
              </a:buClr>
              <a:buSzPct val="105000"/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Server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Architektura systému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5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75E4FFEF-9DF4-4EF8-93A9-3402275DC994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10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Picture 148"/>
          <p:cNvPicPr/>
          <p:nvPr/>
        </p:nvPicPr>
        <p:blipFill>
          <a:blip r:embed="rId6"/>
          <a:stretch/>
        </p:blipFill>
        <p:spPr>
          <a:xfrm>
            <a:off x="963720" y="934560"/>
            <a:ext cx="10008720" cy="551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Sleep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Uspán MCU i BG77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Využití PSM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Probuzení RTC nebo interruptem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Perioda RTC dána sítí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82AD909E-F18E-4A7E-91B6-8946799B0134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11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Obrázek 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Send telemetry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Odesílá informace ve formátu JSON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Rádiové podmínky, stav baterie, teplota...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Obrázek 13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Obrázek 15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Nadpis 1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8EDEBE7F-2E83-41AD-9DC4-ED59EB0DC771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12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Nadpis 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Obrázek 20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Obrázek 1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Save image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Uloží záznam o obrázku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Záznam obsahuje název souboru a čas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Záznamy ukládá do zásobníku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Obrázek 2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Obrázek 3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Nadpis 3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A938397B-0D51-4DE5-8A4B-90E3F4EB0B62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13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Nadpis 4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Obrázek 4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Picture 173"/>
          <p:cNvPicPr/>
          <p:nvPr/>
        </p:nvPicPr>
        <p:blipFill>
          <a:blip r:embed="rId6"/>
          <a:stretch/>
        </p:blipFill>
        <p:spPr>
          <a:xfrm>
            <a:off x="6621728" y="3031634"/>
            <a:ext cx="4807911" cy="3057765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Obrázek 5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Send all images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1280160" y="1131120"/>
            <a:ext cx="9295560" cy="523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Obrázky jsou odeslány pouze za vhodných podmínek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Přečte všechny nové záznamy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FF4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Přepíše ukazatel na konec 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zásobníku</a:t>
            </a:r>
            <a:endParaRPr lang="cs-CZ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Obrázek 7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Obrázek 8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Nadpis 6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355CCDC6-1FE6-48ED-B504-B0D45DA93A8D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14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Nadpis 7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Obrázek 9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Picture 182"/>
          <p:cNvPicPr/>
          <p:nvPr/>
        </p:nvPicPr>
        <p:blipFill>
          <a:blip r:embed="rId6"/>
          <a:stretch/>
        </p:blipFill>
        <p:spPr>
          <a:xfrm>
            <a:off x="6629400" y="2954880"/>
            <a:ext cx="5028840" cy="321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Obrázek 10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Proč využívat PSM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Obrázek 11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Obrázek 12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Nadpis 2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964A0492-8321-4DE2-907E-D9F1EA21432F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15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Nadpis 5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Obrázek 14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 Placeholder 3"/>
          <p:cNvSpPr txBox="1"/>
          <p:nvPr/>
        </p:nvSpPr>
        <p:spPr>
          <a:xfrm>
            <a:off x="457200" y="1234800"/>
            <a:ext cx="5231880" cy="1965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Problem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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Equipment installed in remote areas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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Battery-powered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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Motion events are infrequent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Pictur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091200" y="3424320"/>
            <a:ext cx="9000" cy="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Text Placeholder 1"/>
          <p:cNvSpPr/>
          <p:nvPr/>
        </p:nvSpPr>
        <p:spPr>
          <a:xfrm>
            <a:off x="6172200" y="1234800"/>
            <a:ext cx="4777920" cy="196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Solution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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BG77 remains in PSM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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RP2040 stays in Sleep mode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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Only the PIR sensor stays active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Placeholder 2"/>
          <p:cNvSpPr/>
          <p:nvPr/>
        </p:nvSpPr>
        <p:spPr>
          <a:xfrm>
            <a:off x="457200" y="3429000"/>
            <a:ext cx="4239720" cy="207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Benefits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Increased autonomy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Reduced maintenance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Lower energy consumption</a:t>
            </a:r>
            <a:endParaRPr lang="cs-CZ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Obrázek 16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Optimalizace spotřeby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Obrázek 17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Obrázek 18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Nadpis 8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AA61018D-E835-4A6E-8574-5421062D822B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16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Nadpis 9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Obrázek 19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Pictur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091200" y="3424320"/>
            <a:ext cx="9000" cy="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Image 0" descr="preencoded.png"/>
          <p:cNvPicPr/>
          <p:nvPr/>
        </p:nvPicPr>
        <p:blipFill>
          <a:blip r:embed="rId7"/>
          <a:srcRect l="26444" t="2240" r="33873" b="10401"/>
          <a:stretch/>
        </p:blipFill>
        <p:spPr>
          <a:xfrm>
            <a:off x="8001000" y="1013400"/>
            <a:ext cx="3200400" cy="51634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4" name="Table 1"/>
          <p:cNvGraphicFramePr/>
          <p:nvPr/>
        </p:nvGraphicFramePr>
        <p:xfrm>
          <a:off x="302040" y="1302480"/>
          <a:ext cx="7013160" cy="3547800"/>
        </p:xfrm>
        <a:graphic>
          <a:graphicData uri="http://schemas.openxmlformats.org/drawingml/2006/table">
            <a:tbl>
              <a:tblPr/>
              <a:tblGrid>
                <a:gridCol w="170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2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Power State</a:t>
                      </a:r>
                      <a:endParaRPr lang="cs-CZ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Current Draw</a:t>
                      </a:r>
                      <a:endParaRPr lang="cs-CZ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Duration</a:t>
                      </a:r>
                      <a:endParaRPr lang="cs-CZ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Use Case</a:t>
                      </a:r>
                      <a:endParaRPr lang="cs-CZ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6040"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Deep Sleep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&lt;10uA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90% of time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Warning for events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920"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Light  Sleep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100uA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5% of time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Pre-alarm state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040"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Active TX/RX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50-200mA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&lt;1% of time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Data transmission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040"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Processing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30-80mA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&lt;1% of time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Image processing</a:t>
                      </a:r>
                      <a:endParaRPr lang="cs-CZ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Obrázek 21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Optimalizace spotřeby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Obrázek 22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Obrázek 23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Nadpis 10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07086C63-4588-489C-A8E6-5CBD6AFA2B0E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17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Nadpis 11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Obrázek 24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2" name="Pictur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091200" y="3424320"/>
            <a:ext cx="9000" cy="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Picture Placeholder 5"/>
          <p:cNvPicPr/>
          <p:nvPr/>
        </p:nvPicPr>
        <p:blipFill>
          <a:blip r:embed="rId7"/>
          <a:srcRect l="1113" r="1113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Obrázek 25"/>
          <p:cNvPicPr/>
          <p:nvPr/>
        </p:nvPicPr>
        <p:blipFill>
          <a:blip r:embed="rId2"/>
          <a:stretch/>
        </p:blipFill>
        <p:spPr>
          <a:xfrm>
            <a:off x="0" y="0"/>
            <a:ext cx="12191400" cy="9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266760" y="-25920"/>
            <a:ext cx="8071920" cy="93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Implementace</a:t>
            </a:r>
            <a:endParaRPr lang="cs-CZ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" name="Obrázek 26"/>
          <p:cNvPicPr/>
          <p:nvPr/>
        </p:nvPicPr>
        <p:blipFill>
          <a:blip r:embed="rId3"/>
          <a:stretch/>
        </p:blipFill>
        <p:spPr>
          <a:xfrm>
            <a:off x="0" y="6557400"/>
            <a:ext cx="1087668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Obrázek 27"/>
          <p:cNvPicPr/>
          <p:nvPr/>
        </p:nvPicPr>
        <p:blipFill>
          <a:blip r:embed="rId4"/>
          <a:stretch/>
        </p:blipFill>
        <p:spPr>
          <a:xfrm>
            <a:off x="10567080" y="6557400"/>
            <a:ext cx="1624320" cy="2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Nadpis 12"/>
          <p:cNvSpPr/>
          <p:nvPr/>
        </p:nvSpPr>
        <p:spPr>
          <a:xfrm>
            <a:off x="10593720" y="6405120"/>
            <a:ext cx="162432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 defTabSz="914400">
              <a:lnSpc>
                <a:spcPct val="90000"/>
              </a:lnSpc>
            </a:pPr>
            <a:fld id="{4513C95D-D031-424A-80B4-47A70DDD71BA}" type="slidenum"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18</a:t>
            </a:fld>
            <a:r>
              <a:rPr lang="cs-CZ" sz="1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/2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Nadpis 13"/>
          <p:cNvSpPr/>
          <p:nvPr/>
        </p:nvSpPr>
        <p:spPr>
          <a:xfrm>
            <a:off x="0" y="6361560"/>
            <a:ext cx="1054944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cs-CZ" sz="1800" b="0" u="none" strike="noStrike">
                <a:solidFill>
                  <a:srgbClr val="FF0000"/>
                </a:solidFill>
                <a:effectLst/>
                <a:uFillTx/>
                <a:latin typeface="Aptos Display"/>
              </a:rPr>
              <a:t>Fotopast – Detekce Pohybu</a:t>
            </a:r>
            <a:endParaRPr lang="cs-CZ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" name="Obrázek 28" descr="Obsah obrázku logo, symbol, Písmo, Grafika&#10;&#10;Popis byl vytvořen automaticky"/>
          <p:cNvPicPr/>
          <p:nvPr/>
        </p:nvPicPr>
        <p:blipFill>
          <a:blip r:embed="rId5"/>
          <a:stretch/>
        </p:blipFill>
        <p:spPr>
          <a:xfrm>
            <a:off x="10593720" y="311400"/>
            <a:ext cx="1330920" cy="4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Pictur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091200" y="3424320"/>
            <a:ext cx="9000" cy="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2" name="Picture 8"/>
          <p:cNvPicPr/>
          <p:nvPr/>
        </p:nvPicPr>
        <p:blipFill>
          <a:blip r:embed="rId7"/>
          <a:stretch/>
        </p:blipFill>
        <p:spPr>
          <a:xfrm>
            <a:off x="8862120" y="1185840"/>
            <a:ext cx="2814480" cy="408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Picture 9"/>
          <p:cNvPicPr/>
          <p:nvPr/>
        </p:nvPicPr>
        <p:blipFill>
          <a:blip r:embed="rId8"/>
          <a:stretch/>
        </p:blipFill>
        <p:spPr>
          <a:xfrm>
            <a:off x="4831560" y="1839240"/>
            <a:ext cx="3757680" cy="278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4" name="Picture 11"/>
          <p:cNvPicPr/>
          <p:nvPr/>
        </p:nvPicPr>
        <p:blipFill>
          <a:blip r:embed="rId9"/>
          <a:stretch/>
        </p:blipFill>
        <p:spPr>
          <a:xfrm>
            <a:off x="497880" y="2654280"/>
            <a:ext cx="4108680" cy="1468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1684</TotalTime>
  <Words>592</Words>
  <Application>Microsoft Office PowerPoint</Application>
  <PresentationFormat>Widescreen</PresentationFormat>
  <Paragraphs>151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Symbol</vt:lpstr>
      <vt:lpstr>Times New Roman</vt:lpstr>
      <vt:lpstr>Wingdings</vt:lpstr>
      <vt:lpstr>Motiv Office</vt:lpstr>
      <vt:lpstr>Fotopast – Detekce Pohybu </vt:lpstr>
      <vt:lpstr>CÍLE A POŽADAVKY</vt:lpstr>
      <vt:lpstr>NÁVRH TECHNICKÉHO ŘEŠENÍ</vt:lpstr>
      <vt:lpstr>PŘENOSOVÁ TECHNOLOGIE (LTE Cat-M)</vt:lpstr>
      <vt:lpstr>Transportní protokol (UDP)</vt:lpstr>
      <vt:lpstr>Aplikační protokol (JSON, HEX)</vt:lpstr>
      <vt:lpstr>STRUKTURA KÓDU</vt:lpstr>
      <vt:lpstr>SERVER</vt:lpstr>
      <vt:lpstr>SERVER UKÁZKA (lokální)</vt:lpstr>
      <vt:lpstr>Architektura systému</vt:lpstr>
      <vt:lpstr>Sleep</vt:lpstr>
      <vt:lpstr>Send telemetry</vt:lpstr>
      <vt:lpstr>Save image</vt:lpstr>
      <vt:lpstr>Send all images</vt:lpstr>
      <vt:lpstr>Proč využívat PSM</vt:lpstr>
      <vt:lpstr>Optimalizace spotřeby</vt:lpstr>
      <vt:lpstr>Optimalizace spotřeby</vt:lpstr>
      <vt:lpstr>Implementace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Návrh pájecího zařízení pro pájení přetavením s přestupem tepla kondukcí</dc:title>
  <dc:subject/>
  <dc:creator>Jozíf Jakub (247016)</dc:creator>
  <dc:description/>
  <cp:lastModifiedBy>Šimon Navrátil</cp:lastModifiedBy>
  <cp:revision>12</cp:revision>
  <dcterms:created xsi:type="dcterms:W3CDTF">2025-01-07T17:29:46Z</dcterms:created>
  <dcterms:modified xsi:type="dcterms:W3CDTF">2026-05-28T10:00:08Z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0x01010068033859EDFEA34D97C3CEF122C3483D</vt:lpwstr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12</vt:i4>
  </property>
</Properties>
</file>